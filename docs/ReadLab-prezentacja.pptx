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822960" y="1958330"/>
            <a:ext cx="5669280" cy="929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6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ReadLab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841247" y="3182543"/>
            <a:ext cx="5486401" cy="310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100">
                <a:solidFill>
                  <a:srgbClr val="D0D0D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Kolejka książek do przeczytania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841247" y="5544649"/>
            <a:ext cx="5486401" cy="43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A1A1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Projektowanie Interfejsów Użytkownika</a:t>
            </a:r>
          </a:p>
          <a:p>
            <a:pPr>
              <a:lnSpc>
                <a:spcPct val="130000"/>
              </a:lnSpc>
              <a:defRPr sz="13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prowadzący: mgr inż. Bartłomiej Kizielewicz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841247" y="6249708"/>
            <a:ext cx="5486401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Gracjan Prusik  ·  Bartłomiej Neumann</a:t>
            </a:r>
          </a:p>
        </p:txBody>
      </p:sp>
      <p:pic>
        <p:nvPicPr>
          <p:cNvPr id="2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330924" y="1038498"/>
            <a:ext cx="6664720" cy="47810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 txBox="1"/>
          <p:nvPr/>
        </p:nvSpPr>
        <p:spPr>
          <a:xfrm>
            <a:off x="822960" y="1283064"/>
            <a:ext cx="10424160" cy="1182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4999"/>
              </a:lnSpc>
              <a:defRPr b="1" sz="38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Książek przybywa szybciej,</a:t>
            </a:r>
          </a:p>
          <a:p>
            <a:pPr>
              <a:lnSpc>
                <a:spcPct val="104999"/>
              </a:lnSpc>
              <a:defRPr b="1" sz="38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niż zdążymy je przeczytać.</a:t>
            </a:r>
          </a:p>
        </p:txBody>
      </p:sp>
      <p:sp>
        <p:nvSpPr>
          <p:cNvPr id="27" name="Text 1"/>
          <p:cNvSpPr txBox="1"/>
          <p:nvPr/>
        </p:nvSpPr>
        <p:spPr>
          <a:xfrm>
            <a:off x="822959" y="3124088"/>
            <a:ext cx="8778242" cy="518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6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Materiały rozsypane są po notatkach, zakładkach i kartkach. Brakuje jednego miejsca, które jasno pokazuje, na czym realnie stoimy.</a:t>
            </a:r>
          </a:p>
        </p:txBody>
      </p:sp>
      <p:sp>
        <p:nvSpPr>
          <p:cNvPr id="28" name="Shape 2"/>
          <p:cNvSpPr/>
          <p:nvPr/>
        </p:nvSpPr>
        <p:spPr>
          <a:xfrm>
            <a:off x="822960" y="4297679"/>
            <a:ext cx="3200401" cy="1"/>
          </a:xfrm>
          <a:prstGeom prst="line">
            <a:avLst/>
          </a:prstGeom>
          <a:ln w="19050">
            <a:solidFill>
              <a:srgbClr val="1D1D1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3"/>
          <p:cNvSpPr txBox="1"/>
          <p:nvPr/>
        </p:nvSpPr>
        <p:spPr>
          <a:xfrm>
            <a:off x="822960" y="4532503"/>
            <a:ext cx="3200401" cy="627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0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Co czytam</a:t>
            </a:r>
          </a:p>
          <a:p>
            <a:pPr>
              <a:defRPr b="1" sz="20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teraz</a:t>
            </a:r>
          </a:p>
        </p:txBody>
      </p:sp>
      <p:sp>
        <p:nvSpPr>
          <p:cNvPr id="30" name="Shape 4"/>
          <p:cNvSpPr/>
          <p:nvPr/>
        </p:nvSpPr>
        <p:spPr>
          <a:xfrm>
            <a:off x="4480559" y="4297679"/>
            <a:ext cx="3200401" cy="1"/>
          </a:xfrm>
          <a:prstGeom prst="line">
            <a:avLst/>
          </a:prstGeom>
          <a:ln w="19050">
            <a:solidFill>
              <a:srgbClr val="1D1D1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5"/>
          <p:cNvSpPr txBox="1"/>
          <p:nvPr/>
        </p:nvSpPr>
        <p:spPr>
          <a:xfrm>
            <a:off x="4480559" y="4532503"/>
            <a:ext cx="3200401" cy="627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0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Co czeka</a:t>
            </a:r>
          </a:p>
          <a:p>
            <a:pPr>
              <a:defRPr b="1" sz="20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 kolejce</a:t>
            </a:r>
          </a:p>
        </p:txBody>
      </p:sp>
      <p:sp>
        <p:nvSpPr>
          <p:cNvPr id="32" name="Shape 6"/>
          <p:cNvSpPr/>
          <p:nvPr/>
        </p:nvSpPr>
        <p:spPr>
          <a:xfrm>
            <a:off x="8138159" y="4297679"/>
            <a:ext cx="3200401" cy="1"/>
          </a:xfrm>
          <a:prstGeom prst="line">
            <a:avLst/>
          </a:prstGeom>
          <a:ln w="19050">
            <a:solidFill>
              <a:srgbClr val="1D1D1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7"/>
          <p:cNvSpPr txBox="1"/>
          <p:nvPr/>
        </p:nvSpPr>
        <p:spPr>
          <a:xfrm>
            <a:off x="8138159" y="4532503"/>
            <a:ext cx="3200401" cy="627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0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Co już</a:t>
            </a:r>
          </a:p>
          <a:p>
            <a:pPr>
              <a:defRPr b="1" sz="20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skończyłem</a:t>
            </a:r>
          </a:p>
        </p:txBody>
      </p:sp>
      <p:sp>
        <p:nvSpPr>
          <p:cNvPr id="34" name="Text 8"/>
          <p:cNvSpPr txBox="1"/>
          <p:nvPr/>
        </p:nvSpPr>
        <p:spPr>
          <a:xfrm>
            <a:off x="822960" y="5896381"/>
            <a:ext cx="10058401" cy="18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A1A1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Notion czy Goodreads są na to zbyt ciężkie - zwykła lista to-do zbyt uboga.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 txBox="1"/>
          <p:nvPr/>
        </p:nvSpPr>
        <p:spPr>
          <a:xfrm>
            <a:off x="822960" y="946964"/>
            <a:ext cx="10424160" cy="483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Dwie persony, dwa konteksty</a:t>
            </a:r>
          </a:p>
        </p:txBody>
      </p:sp>
      <p:sp>
        <p:nvSpPr>
          <p:cNvPr id="37" name="Shape 1"/>
          <p:cNvSpPr/>
          <p:nvPr/>
        </p:nvSpPr>
        <p:spPr>
          <a:xfrm flipH="1">
            <a:off x="6080759" y="2103120"/>
            <a:ext cx="1" cy="3291841"/>
          </a:xfrm>
          <a:prstGeom prst="line">
            <a:avLst/>
          </a:prstGeom>
          <a:ln w="12700">
            <a:solidFill>
              <a:srgbClr val="DADA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2"/>
          <p:cNvSpPr txBox="1"/>
          <p:nvPr/>
        </p:nvSpPr>
        <p:spPr>
          <a:xfrm>
            <a:off x="822960" y="2164322"/>
            <a:ext cx="4846321" cy="334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Samouk po godzinach</a:t>
            </a:r>
          </a:p>
        </p:txBody>
      </p:sp>
      <p:sp>
        <p:nvSpPr>
          <p:cNvPr id="39" name="Text 3"/>
          <p:cNvSpPr txBox="1"/>
          <p:nvPr/>
        </p:nvSpPr>
        <p:spPr>
          <a:xfrm>
            <a:off x="822960" y="2695981"/>
            <a:ext cx="4846321" cy="18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28–32 lata · pracuje na etacie · desktop</a:t>
            </a:r>
          </a:p>
        </p:txBody>
      </p:sp>
      <p:sp>
        <p:nvSpPr>
          <p:cNvPr id="40" name="Text 4"/>
          <p:cNvSpPr txBox="1"/>
          <p:nvPr/>
        </p:nvSpPr>
        <p:spPr>
          <a:xfrm>
            <a:off x="822960" y="3280886"/>
            <a:ext cx="4846321" cy="479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i="1" sz="15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„Zaczynam kilka książek naraz i nie wiem, co było w połowie.”</a:t>
            </a:r>
          </a:p>
        </p:txBody>
      </p:sp>
      <p:sp>
        <p:nvSpPr>
          <p:cNvPr id="41" name="Text 5"/>
          <p:cNvSpPr txBox="1"/>
          <p:nvPr/>
        </p:nvSpPr>
        <p:spPr>
          <a:xfrm>
            <a:off x="822960" y="4519480"/>
            <a:ext cx="4846321" cy="47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Potrzebuje: statusu „W trakcie” z limitem, priorytetów i tagów do ogarnięcia kolekcji.</a:t>
            </a:r>
          </a:p>
        </p:txBody>
      </p:sp>
      <p:sp>
        <p:nvSpPr>
          <p:cNvPr id="42" name="Text 6"/>
          <p:cNvSpPr txBox="1"/>
          <p:nvPr/>
        </p:nvSpPr>
        <p:spPr>
          <a:xfrm>
            <a:off x="6446520" y="2164322"/>
            <a:ext cx="4846321" cy="334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Student w biegu</a:t>
            </a:r>
          </a:p>
        </p:txBody>
      </p:sp>
      <p:sp>
        <p:nvSpPr>
          <p:cNvPr id="43" name="Text 7"/>
          <p:cNvSpPr txBox="1"/>
          <p:nvPr/>
        </p:nvSpPr>
        <p:spPr>
          <a:xfrm>
            <a:off x="6446520" y="2695981"/>
            <a:ext cx="4846321" cy="18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20–23 lata · studia dzienne · telefon</a:t>
            </a:r>
          </a:p>
        </p:txBody>
      </p:sp>
      <p:sp>
        <p:nvSpPr>
          <p:cNvPr id="44" name="Text 8"/>
          <p:cNvSpPr txBox="1"/>
          <p:nvPr/>
        </p:nvSpPr>
        <p:spPr>
          <a:xfrm>
            <a:off x="6446520" y="3280886"/>
            <a:ext cx="4846321" cy="479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i="1" sz="15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„Mieszam lektury obowiązkowe z własnymi i zapominam o terminach.”</a:t>
            </a:r>
          </a:p>
        </p:txBody>
      </p:sp>
      <p:sp>
        <p:nvSpPr>
          <p:cNvPr id="45" name="Text 9"/>
          <p:cNvSpPr txBox="1"/>
          <p:nvPr/>
        </p:nvSpPr>
        <p:spPr>
          <a:xfrm>
            <a:off x="6446520" y="4519480"/>
            <a:ext cx="4846321" cy="47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Potrzebuje: terminów, filtrów i szybkiego dodawania jednym ruchem z telefonu.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 txBox="1"/>
          <p:nvPr/>
        </p:nvSpPr>
        <p:spPr>
          <a:xfrm>
            <a:off x="822960" y="946964"/>
            <a:ext cx="10424160" cy="483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Proces - od analizy do wdrożenia</a:t>
            </a:r>
          </a:p>
        </p:txBody>
      </p:sp>
      <p:sp>
        <p:nvSpPr>
          <p:cNvPr id="48" name="Shape 1"/>
          <p:cNvSpPr/>
          <p:nvPr/>
        </p:nvSpPr>
        <p:spPr>
          <a:xfrm>
            <a:off x="1097280" y="3246120"/>
            <a:ext cx="9966960" cy="1"/>
          </a:xfrm>
          <a:prstGeom prst="line">
            <a:avLst/>
          </a:prstGeom>
          <a:ln w="12700">
            <a:solidFill>
              <a:srgbClr val="DADA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Shape 2"/>
          <p:cNvSpPr/>
          <p:nvPr/>
        </p:nvSpPr>
        <p:spPr>
          <a:xfrm>
            <a:off x="1819655" y="3191255"/>
            <a:ext cx="109729" cy="109729"/>
          </a:xfrm>
          <a:prstGeom prst="ellipse">
            <a:avLst/>
          </a:prstGeom>
          <a:solidFill>
            <a:srgbClr val="1D1D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3"/>
          <p:cNvSpPr txBox="1"/>
          <p:nvPr/>
        </p:nvSpPr>
        <p:spPr>
          <a:xfrm>
            <a:off x="822960" y="2376615"/>
            <a:ext cx="210312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0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51" name="Text 4"/>
          <p:cNvSpPr txBox="1"/>
          <p:nvPr/>
        </p:nvSpPr>
        <p:spPr>
          <a:xfrm>
            <a:off x="822960" y="3793261"/>
            <a:ext cx="2103121" cy="18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13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Analiza i persony</a:t>
            </a:r>
          </a:p>
        </p:txBody>
      </p:sp>
      <p:sp>
        <p:nvSpPr>
          <p:cNvPr id="52" name="Shape 5"/>
          <p:cNvSpPr/>
          <p:nvPr/>
        </p:nvSpPr>
        <p:spPr>
          <a:xfrm>
            <a:off x="3922776" y="3191255"/>
            <a:ext cx="109729" cy="109729"/>
          </a:xfrm>
          <a:prstGeom prst="ellipse">
            <a:avLst/>
          </a:prstGeom>
          <a:solidFill>
            <a:srgbClr val="1D1D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6"/>
          <p:cNvSpPr txBox="1"/>
          <p:nvPr/>
        </p:nvSpPr>
        <p:spPr>
          <a:xfrm>
            <a:off x="2926079" y="2376615"/>
            <a:ext cx="210312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0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54" name="Text 7"/>
          <p:cNvSpPr txBox="1"/>
          <p:nvPr/>
        </p:nvSpPr>
        <p:spPr>
          <a:xfrm>
            <a:off x="2926079" y="3793261"/>
            <a:ext cx="2103121" cy="18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13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Szkice + User Flow</a:t>
            </a:r>
          </a:p>
        </p:txBody>
      </p:sp>
      <p:sp>
        <p:nvSpPr>
          <p:cNvPr id="55" name="Shape 8"/>
          <p:cNvSpPr/>
          <p:nvPr/>
        </p:nvSpPr>
        <p:spPr>
          <a:xfrm>
            <a:off x="6025896" y="3191255"/>
            <a:ext cx="109729" cy="109729"/>
          </a:xfrm>
          <a:prstGeom prst="ellipse">
            <a:avLst/>
          </a:prstGeom>
          <a:solidFill>
            <a:srgbClr val="1D1D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9"/>
          <p:cNvSpPr txBox="1"/>
          <p:nvPr/>
        </p:nvSpPr>
        <p:spPr>
          <a:xfrm>
            <a:off x="5029200" y="2376615"/>
            <a:ext cx="210312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0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57" name="Text 10"/>
          <p:cNvSpPr txBox="1"/>
          <p:nvPr/>
        </p:nvSpPr>
        <p:spPr>
          <a:xfrm>
            <a:off x="5029200" y="3793261"/>
            <a:ext cx="2103121" cy="18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13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Prototyp w Figmie</a:t>
            </a:r>
          </a:p>
        </p:txBody>
      </p:sp>
      <p:sp>
        <p:nvSpPr>
          <p:cNvPr id="58" name="Shape 11"/>
          <p:cNvSpPr/>
          <p:nvPr/>
        </p:nvSpPr>
        <p:spPr>
          <a:xfrm>
            <a:off x="8129016" y="3191255"/>
            <a:ext cx="109729" cy="109729"/>
          </a:xfrm>
          <a:prstGeom prst="ellipse">
            <a:avLst/>
          </a:prstGeom>
          <a:solidFill>
            <a:srgbClr val="1D1D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12"/>
          <p:cNvSpPr txBox="1"/>
          <p:nvPr/>
        </p:nvSpPr>
        <p:spPr>
          <a:xfrm>
            <a:off x="7132319" y="2376615"/>
            <a:ext cx="210312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0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0" name="Text 13"/>
          <p:cNvSpPr txBox="1"/>
          <p:nvPr/>
        </p:nvSpPr>
        <p:spPr>
          <a:xfrm>
            <a:off x="7132319" y="3793261"/>
            <a:ext cx="2103121" cy="18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13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Testy z 3 osobami</a:t>
            </a:r>
          </a:p>
        </p:txBody>
      </p:sp>
      <p:sp>
        <p:nvSpPr>
          <p:cNvPr id="61" name="Shape 14"/>
          <p:cNvSpPr/>
          <p:nvPr/>
        </p:nvSpPr>
        <p:spPr>
          <a:xfrm>
            <a:off x="10232135" y="3191255"/>
            <a:ext cx="109729" cy="109729"/>
          </a:xfrm>
          <a:prstGeom prst="ellipse">
            <a:avLst/>
          </a:prstGeom>
          <a:solidFill>
            <a:srgbClr val="1D1D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15"/>
          <p:cNvSpPr txBox="1"/>
          <p:nvPr/>
        </p:nvSpPr>
        <p:spPr>
          <a:xfrm>
            <a:off x="9235440" y="2376615"/>
            <a:ext cx="210312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0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63" name="Text 16"/>
          <p:cNvSpPr txBox="1"/>
          <p:nvPr/>
        </p:nvSpPr>
        <p:spPr>
          <a:xfrm>
            <a:off x="9235440" y="3793261"/>
            <a:ext cx="2103121" cy="18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10000"/>
              </a:lnSpc>
              <a:defRPr sz="13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Implementacja w React</a:t>
            </a:r>
          </a:p>
        </p:txBody>
      </p:sp>
      <p:sp>
        <p:nvSpPr>
          <p:cNvPr id="64" name="Text 17"/>
          <p:cNvSpPr txBox="1"/>
          <p:nvPr/>
        </p:nvSpPr>
        <p:spPr>
          <a:xfrm>
            <a:off x="822960" y="5250129"/>
            <a:ext cx="10515601" cy="198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400">
                <a:solidFill>
                  <a:srgbClr val="A1A1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Każdy etap korzystał z wniosków poprzedniego - projekt powstawał iteracyjnie.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 txBox="1"/>
          <p:nvPr/>
        </p:nvSpPr>
        <p:spPr>
          <a:xfrm>
            <a:off x="822960" y="734670"/>
            <a:ext cx="10424160" cy="35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Tablica -  Kolejka, W trakcie, Skończone</a:t>
            </a:r>
          </a:p>
        </p:txBody>
      </p:sp>
      <p:sp>
        <p:nvSpPr>
          <p:cNvPr id="67" name="Shape 1"/>
          <p:cNvSpPr/>
          <p:nvPr/>
        </p:nvSpPr>
        <p:spPr>
          <a:xfrm>
            <a:off x="2802635" y="1371600"/>
            <a:ext cx="6556249" cy="4754880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>
            <a:solidFill>
              <a:srgbClr val="DADADE"/>
            </a:solidFill>
          </a:ln>
          <a:effectLst>
            <a:outerShdw sx="100000" sy="100000" kx="0" ky="0" algn="b" rotWithShape="0" blurRad="177800" dist="50800" dir="54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6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94076" y="1463039"/>
            <a:ext cx="6373369" cy="4572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 txBox="1"/>
          <p:nvPr/>
        </p:nvSpPr>
        <p:spPr>
          <a:xfrm>
            <a:off x="822960" y="734670"/>
            <a:ext cx="10424160" cy="35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Dodawanie książki i tryb ciemny</a:t>
            </a:r>
          </a:p>
        </p:txBody>
      </p:sp>
      <p:sp>
        <p:nvSpPr>
          <p:cNvPr id="71" name="Shape 1"/>
          <p:cNvSpPr/>
          <p:nvPr/>
        </p:nvSpPr>
        <p:spPr>
          <a:xfrm>
            <a:off x="606613" y="1645920"/>
            <a:ext cx="5154108" cy="3749041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>
            <a:solidFill>
              <a:srgbClr val="DADADE"/>
            </a:solidFill>
          </a:ln>
          <a:effectLst>
            <a:outerShdw sx="100000" sy="100000" kx="0" ky="0" algn="b" rotWithShape="0" blurRad="177800" dist="50800" dir="54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7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8052" y="1737360"/>
            <a:ext cx="4971229" cy="356616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Shape 2"/>
          <p:cNvSpPr/>
          <p:nvPr/>
        </p:nvSpPr>
        <p:spPr>
          <a:xfrm>
            <a:off x="6400800" y="1645920"/>
            <a:ext cx="5154108" cy="3749041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>
            <a:solidFill>
              <a:srgbClr val="DADADE"/>
            </a:solidFill>
          </a:ln>
          <a:effectLst>
            <a:outerShdw sx="100000" sy="100000" kx="0" ky="0" algn="b" rotWithShape="0" blurRad="177800" dist="50800" dir="54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7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92240" y="1737360"/>
            <a:ext cx="4971228" cy="3566160"/>
          </a:xfrm>
          <a:prstGeom prst="rect">
            <a:avLst/>
          </a:prstGeom>
          <a:ln w="12700">
            <a:miter lim="400000"/>
          </a:ln>
        </p:spPr>
      </p:pic>
      <p:sp>
        <p:nvSpPr>
          <p:cNvPr id="75" name="Text 3"/>
          <p:cNvSpPr txBox="1"/>
          <p:nvPr/>
        </p:nvSpPr>
        <p:spPr>
          <a:xfrm>
            <a:off x="698052" y="5536793"/>
            <a:ext cx="4971229" cy="173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Formularz z walidacją</a:t>
            </a:r>
          </a:p>
        </p:txBody>
      </p:sp>
      <p:sp>
        <p:nvSpPr>
          <p:cNvPr id="76" name="Text 4"/>
          <p:cNvSpPr txBox="1"/>
          <p:nvPr/>
        </p:nvSpPr>
        <p:spPr>
          <a:xfrm>
            <a:off x="6492240" y="5536793"/>
            <a:ext cx="4971228" cy="173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Tryb ciemny (OLED)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 txBox="1"/>
          <p:nvPr/>
        </p:nvSpPr>
        <p:spPr>
          <a:xfrm>
            <a:off x="822960" y="734670"/>
            <a:ext cx="10424160" cy="35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Główny przepływ użytkownika</a:t>
            </a:r>
          </a:p>
        </p:txBody>
      </p:sp>
      <p:sp>
        <p:nvSpPr>
          <p:cNvPr id="79" name="Shape 1"/>
          <p:cNvSpPr/>
          <p:nvPr/>
        </p:nvSpPr>
        <p:spPr>
          <a:xfrm>
            <a:off x="2449495" y="1463039"/>
            <a:ext cx="7262532" cy="4572001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>
            <a:solidFill>
              <a:srgbClr val="DADADE"/>
            </a:solidFill>
          </a:ln>
          <a:effectLst>
            <a:outerShdw sx="100000" sy="100000" kx="0" ky="0" algn="b" rotWithShape="0" blurRad="177800" dist="50800" dir="54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8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40935" y="1554480"/>
            <a:ext cx="7079651" cy="43891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 txBox="1"/>
          <p:nvPr/>
        </p:nvSpPr>
        <p:spPr>
          <a:xfrm>
            <a:off x="822960" y="946964"/>
            <a:ext cx="10424160" cy="483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Kluczowe decyzje projektowe</a:t>
            </a:r>
          </a:p>
        </p:txBody>
      </p:sp>
      <p:sp>
        <p:nvSpPr>
          <p:cNvPr id="83" name="Text 1"/>
          <p:cNvSpPr txBox="1"/>
          <p:nvPr/>
        </p:nvSpPr>
        <p:spPr>
          <a:xfrm>
            <a:off x="822960" y="2176653"/>
            <a:ext cx="548641" cy="310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A1A1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4" name="Text 2"/>
          <p:cNvSpPr txBox="1"/>
          <p:nvPr/>
        </p:nvSpPr>
        <p:spPr>
          <a:xfrm>
            <a:off x="1463039" y="2214017"/>
            <a:ext cx="97840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Trzy statusy -  </a:t>
            </a:r>
            <a:r>
              <a:rPr b="0">
                <a:solidFill>
                  <a:schemeClr val="accent3">
                    <a:lumOff val="-12941"/>
                  </a:schemeClr>
                </a:solidFill>
              </a:rPr>
              <a:t>realny cykl życia książki. Początek, czytanie, biblioteka zakończonych tytułów.</a:t>
            </a:r>
          </a:p>
        </p:txBody>
      </p:sp>
      <p:sp>
        <p:nvSpPr>
          <p:cNvPr id="85" name="Text 3"/>
          <p:cNvSpPr txBox="1"/>
          <p:nvPr/>
        </p:nvSpPr>
        <p:spPr>
          <a:xfrm>
            <a:off x="822960" y="2963037"/>
            <a:ext cx="548641" cy="310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A1A1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6" name="Text 4"/>
          <p:cNvSpPr txBox="1"/>
          <p:nvPr/>
        </p:nvSpPr>
        <p:spPr>
          <a:xfrm>
            <a:off x="1463039" y="3000401"/>
            <a:ext cx="97840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Responywność aplikacji dla urządzeń mobilnych -</a:t>
            </a:r>
            <a:r>
              <a:rPr>
                <a:solidFill>
                  <a:schemeClr val="accent3">
                    <a:lumOff val="-12941"/>
                  </a:schemeClr>
                </a:solidFill>
              </a:rPr>
              <a:t> </a:t>
            </a:r>
            <a:r>
              <a:rPr b="0">
                <a:solidFill>
                  <a:schemeClr val="accent3">
                    <a:lumOff val="-12941"/>
                  </a:schemeClr>
                </a:solidFill>
              </a:rPr>
              <a:t>łatwy dostęp dla wszystkich urządzeń</a:t>
            </a:r>
          </a:p>
        </p:txBody>
      </p:sp>
      <p:sp>
        <p:nvSpPr>
          <p:cNvPr id="87" name="Text 5"/>
          <p:cNvSpPr txBox="1"/>
          <p:nvPr/>
        </p:nvSpPr>
        <p:spPr>
          <a:xfrm>
            <a:off x="822960" y="3749421"/>
            <a:ext cx="548641" cy="310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A1A1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8" name="Text 6"/>
          <p:cNvSpPr txBox="1"/>
          <p:nvPr/>
        </p:nvSpPr>
        <p:spPr>
          <a:xfrm>
            <a:off x="1463039" y="3786785"/>
            <a:ext cx="97840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Dodawanie samego tytułu -  </a:t>
            </a:r>
            <a:r>
              <a:rPr b="0">
                <a:solidFill>
                  <a:schemeClr val="accent3">
                    <a:lumOff val="-12941"/>
                  </a:schemeClr>
                </a:solidFill>
              </a:rPr>
              <a:t>dodanie książki zajmuje sekundę; reszta opcjonalna</a:t>
            </a:r>
          </a:p>
        </p:txBody>
      </p:sp>
      <p:sp>
        <p:nvSpPr>
          <p:cNvPr id="89" name="Text 7"/>
          <p:cNvSpPr txBox="1"/>
          <p:nvPr/>
        </p:nvSpPr>
        <p:spPr>
          <a:xfrm>
            <a:off x="822960" y="4535806"/>
            <a:ext cx="548641" cy="310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A1A1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0" name="Text 8"/>
          <p:cNvSpPr txBox="1"/>
          <p:nvPr/>
        </p:nvSpPr>
        <p:spPr>
          <a:xfrm>
            <a:off x="1463039" y="4458766"/>
            <a:ext cx="9784082" cy="464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Potwierdzenie przed usunięciem -  </a:t>
            </a:r>
            <a:r>
              <a:rPr b="0">
                <a:solidFill>
                  <a:srgbClr val="6E6E73"/>
                </a:solidFill>
              </a:rPr>
              <a:t>ochrona przed przypadkową utratą danych. Zwłaszcza na urządzeniach dotykowych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 txBox="1"/>
          <p:nvPr/>
        </p:nvSpPr>
        <p:spPr>
          <a:xfrm>
            <a:off x="822960" y="946964"/>
            <a:ext cx="10424160" cy="483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Testy z użytkownikami</a:t>
            </a:r>
          </a:p>
        </p:txBody>
      </p:sp>
      <p:sp>
        <p:nvSpPr>
          <p:cNvPr id="93" name="Text 1"/>
          <p:cNvSpPr txBox="1"/>
          <p:nvPr/>
        </p:nvSpPr>
        <p:spPr>
          <a:xfrm>
            <a:off x="822960" y="1729689"/>
            <a:ext cx="10424160" cy="198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studentka (22), kobieta mało techniczna (48), student (24).</a:t>
            </a:r>
          </a:p>
        </p:txBody>
      </p:sp>
      <p:sp>
        <p:nvSpPr>
          <p:cNvPr id="94" name="Shape 2"/>
          <p:cNvSpPr/>
          <p:nvPr/>
        </p:nvSpPr>
        <p:spPr>
          <a:xfrm flipH="1">
            <a:off x="6080760" y="2468879"/>
            <a:ext cx="1" cy="2560321"/>
          </a:xfrm>
          <a:prstGeom prst="line">
            <a:avLst/>
          </a:prstGeom>
          <a:ln w="12700">
            <a:solidFill>
              <a:srgbClr val="DADA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3"/>
          <p:cNvSpPr txBox="1"/>
          <p:nvPr/>
        </p:nvSpPr>
        <p:spPr>
          <a:xfrm>
            <a:off x="822960" y="2540222"/>
            <a:ext cx="484632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Zauważyliśmy</a:t>
            </a:r>
          </a:p>
        </p:txBody>
      </p:sp>
      <p:sp>
        <p:nvSpPr>
          <p:cNvPr id="96" name="Text 4"/>
          <p:cNvSpPr txBox="1"/>
          <p:nvPr/>
        </p:nvSpPr>
        <p:spPr>
          <a:xfrm>
            <a:off x="822959" y="3405283"/>
            <a:ext cx="4937762" cy="1053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Dwie z trzech osób nie odkryły przeciągania kart - zmieniały status przez edycję.</a:t>
            </a:r>
          </a:p>
          <a:p>
            <a:pPr>
              <a:lnSpc>
                <a:spcPct val="130000"/>
              </a:lnSpc>
              <a:defRPr sz="1500"/>
            </a:pPr>
          </a:p>
          <a:p>
            <a:pPr>
              <a:lnSpc>
                <a:spcPct val="130000"/>
              </a:lnSpc>
              <a:defRPr sz="15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Ikona zębatki była mało czytelna dla osoby 48-letniej.</a:t>
            </a:r>
          </a:p>
        </p:txBody>
      </p:sp>
      <p:sp>
        <p:nvSpPr>
          <p:cNvPr id="97" name="Text 5"/>
          <p:cNvSpPr txBox="1"/>
          <p:nvPr/>
        </p:nvSpPr>
        <p:spPr>
          <a:xfrm>
            <a:off x="6446520" y="2540222"/>
            <a:ext cx="484632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Zmieniliśmy</a:t>
            </a:r>
          </a:p>
        </p:txBody>
      </p:sp>
      <p:sp>
        <p:nvSpPr>
          <p:cNvPr id="98" name="Text 6"/>
          <p:cNvSpPr txBox="1"/>
          <p:nvPr/>
        </p:nvSpPr>
        <p:spPr>
          <a:xfrm>
            <a:off x="6446520" y="3265748"/>
            <a:ext cx="4937761" cy="1332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Karty dostały kursor „grab” i efekt chwytania — przeciąganie stało się czytelne.</a:t>
            </a:r>
          </a:p>
          <a:p>
            <a:pPr>
              <a:lnSpc>
                <a:spcPct val="130000"/>
              </a:lnSpc>
              <a:defRPr sz="1500"/>
            </a:pPr>
          </a:p>
          <a:p>
            <a:pPr>
              <a:lnSpc>
                <a:spcPct val="130000"/>
              </a:lnSpc>
              <a:defRPr sz="15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Na telefonie domyślnie otwiera się „Kolejka”, a nie pusta zakładka.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 txBox="1"/>
          <p:nvPr/>
        </p:nvSpPr>
        <p:spPr>
          <a:xfrm>
            <a:off x="822960" y="2429460"/>
            <a:ext cx="10058401" cy="71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ReadLab</a:t>
            </a:r>
          </a:p>
        </p:txBody>
      </p:sp>
      <p:sp>
        <p:nvSpPr>
          <p:cNvPr id="101" name="Text 1"/>
          <p:cNvSpPr txBox="1"/>
          <p:nvPr/>
        </p:nvSpPr>
        <p:spPr>
          <a:xfrm>
            <a:off x="841247" y="3500424"/>
            <a:ext cx="10058401" cy="222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D0D0D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Projekt realizowany na przedmiot „Projektowanie Interfejsów”</a:t>
            </a:r>
          </a:p>
        </p:txBody>
      </p:sp>
      <p:sp>
        <p:nvSpPr>
          <p:cNvPr id="102" name="Text 2"/>
          <p:cNvSpPr txBox="1"/>
          <p:nvPr/>
        </p:nvSpPr>
        <p:spPr>
          <a:xfrm>
            <a:off x="841247" y="5144693"/>
            <a:ext cx="10058401" cy="500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A1A1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github.com/neumann1337/readlab</a:t>
            </a:r>
          </a:p>
          <a:p>
            <a:pPr defTabSz="457200">
              <a:defRPr sz="1600" u="sng">
                <a:solidFill>
                  <a:srgbClr val="0969DA"/>
                </a:solidFill>
                <a:uFill>
                  <a:solidFill>
                    <a:srgbClr val="0969DA"/>
                  </a:solidFill>
                </a:u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400"/>
              <a:t>https://www.figma.com/proto/9Tbi3S1SnsvuC3lp2xbUmU/ReadLab?node-id=0-1&amp;t=0ZM4tTjmjokpavum-1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
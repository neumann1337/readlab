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1D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2011680"/>
            <a:ext cx="914400" cy="310896"/>
          </a:xfrm>
          <a:prstGeom prst="roundRect">
            <a:avLst>
              <a:gd name="adj" fmla="val 14706"/>
            </a:avLst>
          </a:prstGeom>
          <a:solidFill>
            <a:srgbClr val="1D1D1F"/>
          </a:solidFill>
          <a:ln w="12700">
            <a:solidFill>
              <a:srgbClr val="3A3A3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686800" y="2514600"/>
            <a:ext cx="914400" cy="457200"/>
          </a:xfrm>
          <a:prstGeom prst="roundRect">
            <a:avLst>
              <a:gd name="adj" fmla="val 12000"/>
            </a:avLst>
          </a:prstGeom>
          <a:solidFill>
            <a:srgbClr val="1D1D1F"/>
          </a:solidFill>
          <a:ln w="12700">
            <a:solidFill>
              <a:srgbClr val="3A3A3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0" y="3081528"/>
            <a:ext cx="914400" cy="457200"/>
          </a:xfrm>
          <a:prstGeom prst="roundRect">
            <a:avLst>
              <a:gd name="adj" fmla="val 12000"/>
            </a:avLst>
          </a:prstGeom>
          <a:solidFill>
            <a:srgbClr val="1D1D1F"/>
          </a:solidFill>
          <a:ln w="12700">
            <a:solidFill>
              <a:srgbClr val="3A3A3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0" y="3648456"/>
            <a:ext cx="914400" cy="457200"/>
          </a:xfrm>
          <a:prstGeom prst="roundRect">
            <a:avLst>
              <a:gd name="adj" fmla="val 12000"/>
            </a:avLst>
          </a:prstGeom>
          <a:solidFill>
            <a:srgbClr val="1D1D1F"/>
          </a:solidFill>
          <a:ln w="12700">
            <a:solidFill>
              <a:srgbClr val="3A3A3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921240" y="2011680"/>
            <a:ext cx="914400" cy="310896"/>
          </a:xfrm>
          <a:prstGeom prst="roundRect">
            <a:avLst>
              <a:gd name="adj" fmla="val 14706"/>
            </a:avLst>
          </a:prstGeom>
          <a:solidFill>
            <a:srgbClr val="1D1D1F"/>
          </a:solidFill>
          <a:ln w="12700">
            <a:solidFill>
              <a:srgbClr val="3A3A3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921240" y="2514600"/>
            <a:ext cx="914400" cy="457200"/>
          </a:xfrm>
          <a:prstGeom prst="roundRect">
            <a:avLst>
              <a:gd name="adj" fmla="val 12000"/>
            </a:avLst>
          </a:prstGeom>
          <a:solidFill>
            <a:srgbClr val="1D1D1F"/>
          </a:solidFill>
          <a:ln w="12700">
            <a:solidFill>
              <a:srgbClr val="3A3A3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921240" y="3081528"/>
            <a:ext cx="914400" cy="457200"/>
          </a:xfrm>
          <a:prstGeom prst="roundRect">
            <a:avLst>
              <a:gd name="adj" fmla="val 12000"/>
            </a:avLst>
          </a:prstGeom>
          <a:solidFill>
            <a:srgbClr val="1D1D1F"/>
          </a:solidFill>
          <a:ln w="12700">
            <a:solidFill>
              <a:srgbClr val="3A3A3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921240" y="3648456"/>
            <a:ext cx="914400" cy="457200"/>
          </a:xfrm>
          <a:prstGeom prst="roundRect">
            <a:avLst>
              <a:gd name="adj" fmla="val 12000"/>
            </a:avLst>
          </a:prstGeom>
          <a:solidFill>
            <a:srgbClr val="1D1D1F"/>
          </a:solidFill>
          <a:ln w="12700">
            <a:solidFill>
              <a:srgbClr val="3A3A3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155680" y="2011680"/>
            <a:ext cx="914400" cy="310896"/>
          </a:xfrm>
          <a:prstGeom prst="roundRect">
            <a:avLst>
              <a:gd name="adj" fmla="val 14706"/>
            </a:avLst>
          </a:prstGeom>
          <a:solidFill>
            <a:srgbClr val="1D1D1F"/>
          </a:solidFill>
          <a:ln w="12700">
            <a:solidFill>
              <a:srgbClr val="3A3A3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155680" y="2514600"/>
            <a:ext cx="914400" cy="457200"/>
          </a:xfrm>
          <a:prstGeom prst="roundRect">
            <a:avLst>
              <a:gd name="adj" fmla="val 12000"/>
            </a:avLst>
          </a:prstGeom>
          <a:solidFill>
            <a:srgbClr val="1D1D1F"/>
          </a:solidFill>
          <a:ln w="12700">
            <a:solidFill>
              <a:srgbClr val="3A3A3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155680" y="3081528"/>
            <a:ext cx="914400" cy="457200"/>
          </a:xfrm>
          <a:prstGeom prst="roundRect">
            <a:avLst>
              <a:gd name="adj" fmla="val 12000"/>
            </a:avLst>
          </a:prstGeom>
          <a:solidFill>
            <a:srgbClr val="1D1D1F"/>
          </a:solidFill>
          <a:ln w="12700">
            <a:solidFill>
              <a:srgbClr val="3A3A3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155680" y="3648456"/>
            <a:ext cx="914400" cy="457200"/>
          </a:xfrm>
          <a:prstGeom prst="roundRect">
            <a:avLst>
              <a:gd name="adj" fmla="val 12000"/>
            </a:avLst>
          </a:prstGeom>
          <a:solidFill>
            <a:srgbClr val="1D1D1F"/>
          </a:solidFill>
          <a:ln w="12700">
            <a:solidFill>
              <a:srgbClr val="3A3A3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2057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ReadLab</a:t>
            </a:r>
            <a:endParaRPr lang="en-US" sz="6400" dirty="0"/>
          </a:p>
        </p:txBody>
      </p:sp>
      <p:sp>
        <p:nvSpPr>
          <p:cNvPr id="15" name="Text 13"/>
          <p:cNvSpPr/>
          <p:nvPr/>
        </p:nvSpPr>
        <p:spPr>
          <a:xfrm>
            <a:off x="822960" y="32461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D2D2D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Kolejka książek do przeczytania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822960" y="52120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AEAEB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Projektowanie Interfejsów Użytkownika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6E6E7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prowadzący: mgr inż. Bartłomiej Kizielewicz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22960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Gracjan Prusik · Bartłomiej Neumann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E6E7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PROBLEM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841248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Książek przybywa szybciej, niż zdążymy je przeczytać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22960" y="2011680"/>
            <a:ext cx="5760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Materiały rozsypane są po notatkach, zakładkach i kartkach. Brakuje jednego miejsca, które jasno pokazuje, na czym realnie stoimy: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3383280"/>
            <a:ext cx="5760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 czytam teraz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 czeka w kolejce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 już skończyłem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5212080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i="1" dirty="0">
                <a:solidFill>
                  <a:srgbClr val="6E6E7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Narzędzia jak Notion czy Goodreads są zbyt ciężkie, a zwykła lista to-do nie rozróżnia „w trakcie” od „w kolejce”.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0" y="21031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E6E7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KOLEJKA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315200" y="2468880"/>
            <a:ext cx="14630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2D2D7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315200" y="3337560"/>
            <a:ext cx="14630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2D2D7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315200" y="4206240"/>
            <a:ext cx="14630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2D2D7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915400" y="21031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E6E7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 TRAKCIE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8915400" y="2468880"/>
            <a:ext cx="14630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2D2D7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10515600" y="21031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E6E7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SKOŃCZONE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10515600" y="2468880"/>
            <a:ext cx="14630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2D2D7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2296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EAEB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ReadLab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088136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EAEB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E6E7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UŻYTKOWNICY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841248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Dwie persony, dwa konteksty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2103120"/>
            <a:ext cx="5029200" cy="35661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D2D2D7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188720" y="24231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„Samouk po godzinach”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188720" y="283464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28–32 lata · pracuje na etacie · desktop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88720" y="3383280"/>
            <a:ext cx="4297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Zaczyna kilka książek naraz i gubi, co było w połowie</a:t>
            </a:r>
            <a:endParaRPr lang="en-US" sz="1400" dirty="0"/>
          </a:p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Potrzebuje statusu „W trakcie” z limitem</a:t>
            </a:r>
            <a:endParaRPr lang="en-US" sz="1400" dirty="0"/>
          </a:p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Priorytety, tagi i kolejka do ogarnięcia kolekcji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09360" y="2103120"/>
            <a:ext cx="5029200" cy="35661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D2D2D7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675120" y="24231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„Student w biegu”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675120" y="283464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20–23 lata · studia dzienne · mobile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675120" y="3383280"/>
            <a:ext cx="4297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Miesza lektury obowiązkowe z własnymi</a:t>
            </a:r>
            <a:endParaRPr lang="en-US" sz="1400" dirty="0"/>
          </a:p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Zapomina o terminach, dodaje „na szybko”</a:t>
            </a:r>
            <a:endParaRPr lang="en-US" sz="1400" dirty="0"/>
          </a:p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Potrzebuje terminów, filtrów i szybkiego dodawania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2296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EAEB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ReadLab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088136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EAEB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E6E7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PROCES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841248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Pełny proces UX/UI — iteracyjnie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2743200"/>
            <a:ext cx="196596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2D2D7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29260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352044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6E6E7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Analiza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6E6E7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 persony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788920" y="3246120"/>
            <a:ext cx="182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AEAEB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›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2971800" y="2743200"/>
            <a:ext cx="196596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2D2D7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971800" y="29260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2971800" y="352044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6E6E7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Szkice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6E6E7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+ User Flow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37760" y="3246120"/>
            <a:ext cx="182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AEAEB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›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5120640" y="2743200"/>
            <a:ext cx="196596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2D2D7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120640" y="29260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5120640" y="352044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6E6E7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Prototyp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6E6E7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 Figmie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086600" y="3246120"/>
            <a:ext cx="182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AEAEB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›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7269480" y="2743200"/>
            <a:ext cx="196596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2D2D7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269480" y="29260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7269480" y="352044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6E6E7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Testy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6E6E7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(3 osoby)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235440" y="3246120"/>
            <a:ext cx="182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AEAEB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›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9418320" y="2743200"/>
            <a:ext cx="196596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2D2D7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418320" y="29260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5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9418320" y="352044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6E6E7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Implementacja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6E6E7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React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22960" y="493776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E7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Każdy etap uwzględnia wnioski z poprzedniego — projekt powstawał krok po kroku, nie „na raz”.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2296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EAEB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ReadLab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088136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EAEB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E6E7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SZKICE I PROJEKT WIZUALNY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841248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Od Low-Fi do minimalizmu w duchu Apple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22960" y="2103120"/>
            <a:ext cx="51206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Monochromatycznie</a:t>
            </a:r>
            <a:pPr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— kolor tylko funkcjonalnie (czerwień terminu/usuwania).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Dużo przestrzeni</a:t>
            </a:r>
            <a:pPr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i cienkie linie zamiast ramek i cieni.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Spójne komponenty</a:t>
            </a:r>
            <a:pPr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— jeden zestaw kart, pól i przycisków-pigułek.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Tryb jasny i ciemny</a:t>
            </a:r>
            <a:pPr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jako realna funkcja.</a:t>
            </a:r>
            <a:endParaRPr lang="en-US" sz="1500" dirty="0"/>
          </a:p>
        </p:txBody>
      </p:sp>
      <p:pic>
        <p:nvPicPr>
          <p:cNvPr id="5" name="Image 0" descr="/tmp/readlab-pptx/wireframe-list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0" y="2011680"/>
            <a:ext cx="5120640" cy="2871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217920" y="49834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Szkic Low-Fi ekranu głównego (assets/)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82296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EAEB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ReadLab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1088136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EAEB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E6E7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USER FLOW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841248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Główny przepływ użytkownika</a:t>
            </a:r>
            <a:endParaRPr lang="en-US" sz="3200" dirty="0"/>
          </a:p>
        </p:txBody>
      </p:sp>
      <p:pic>
        <p:nvPicPr>
          <p:cNvPr id="4" name="Image 0" descr="/tmp/readlab-pptx/user-flow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920240"/>
            <a:ext cx="10515600" cy="3931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EAEB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ReadLab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088136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EAEB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E6E7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FUNKCJE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841248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 potrafi ReadLab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210312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2D2D7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188720" y="23774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Wymagane (CRUD)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188720" y="2880360"/>
            <a:ext cx="42976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Dodawanie, edycja, usuwanie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Zmiana statusu: Kolejka → W trakcie → Skończone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Lista / tablica wszystkich pozycji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09360" y="210312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2D2D7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675120" y="23774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Rozszerzone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675120" y="2880360"/>
            <a:ext cx="42976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Wyszukiwarka, filtry, sortowanie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Priorytety, tagi, terminy z ostrzeżeniem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Tryb ciemny, walidacja, zapis w localStorage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22960" y="55321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6E7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Responsywność: desktop — kanban z przeciąganiem; mobile — segmentowany przełącznik statusów.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2296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EAEB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ReadLab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088136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EAEB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E6E7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DECYZJE PROJEKTOWE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841248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Najważniejsze decyzje i uzasadnienia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22960" y="2103120"/>
            <a:ext cx="105156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Trzy statusy zamiast „wykonane” </a:t>
            </a:r>
            <a:pPr indent="0" marL="0">
              <a:lnSpc>
                <a:spcPct val="110000"/>
              </a:lnSpc>
              <a:spcAft>
                <a:spcPts val="1400"/>
              </a:spcAft>
              <a:buNone/>
            </a:pPr>
            <a:r>
              <a:rPr lang="en-US" sz="160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— odwzorowują realny cykl życia książki („coś więcej niż to-do”).</a:t>
            </a:r>
            <a:endParaRPr lang="en-US" sz="1600" dirty="0"/>
          </a:p>
          <a:p>
            <a:pPr marL="342900" indent="-342900">
              <a:lnSpc>
                <a:spcPct val="110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Kanban / zakładki </a:t>
            </a:r>
            <a:pPr indent="0" marL="0">
              <a:lnSpc>
                <a:spcPct val="110000"/>
              </a:lnSpc>
              <a:spcAft>
                <a:spcPts val="1400"/>
              </a:spcAft>
              <a:buNone/>
            </a:pPr>
            <a:r>
              <a:rPr lang="en-US" sz="160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— ta sama logika w dwóch układach = responsywność bez utraty spójności.</a:t>
            </a:r>
            <a:endParaRPr lang="en-US" sz="1600" dirty="0"/>
          </a:p>
          <a:p>
            <a:pPr marL="342900" indent="-342900">
              <a:lnSpc>
                <a:spcPct val="110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Tylko tytuł wymagany </a:t>
            </a:r>
            <a:pPr indent="0" marL="0">
              <a:lnSpc>
                <a:spcPct val="110000"/>
              </a:lnSpc>
              <a:spcAft>
                <a:spcPts val="1400"/>
              </a:spcAft>
              <a:buNone/>
            </a:pPr>
            <a:r>
              <a:rPr lang="en-US" sz="160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— szybkie dodawanie; reszta pól opcjonalna.</a:t>
            </a:r>
            <a:endParaRPr lang="en-US" sz="1600" dirty="0"/>
          </a:p>
          <a:p>
            <a:pPr marL="342900" indent="-342900">
              <a:lnSpc>
                <a:spcPct val="110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Potwierdzenie usuwania </a:t>
            </a:r>
            <a:pPr indent="0" marL="0">
              <a:lnSpc>
                <a:spcPct val="110000"/>
              </a:lnSpc>
              <a:spcAft>
                <a:spcPts val="1400"/>
              </a:spcAft>
              <a:buNone/>
            </a:pPr>
            <a:r>
              <a:rPr lang="en-US" sz="160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— ochrona przed przypadkową utratą danych.</a:t>
            </a:r>
            <a:endParaRPr lang="en-US" sz="1600" dirty="0"/>
          </a:p>
          <a:p>
            <a:pPr marL="342900" indent="-342900">
              <a:lnSpc>
                <a:spcPct val="110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localStorage zamiast backendu </a:t>
            </a:r>
            <a:pPr indent="0" marL="0">
              <a:lnSpc>
                <a:spcPct val="110000"/>
              </a:lnSpc>
              <a:spcAft>
                <a:spcPts val="1400"/>
              </a:spcAft>
              <a:buNone/>
            </a:pPr>
            <a:r>
              <a:rPr lang="en-US" sz="160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— zgodne z wymaganiami; cały wysiłek idzie w UX/UI.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EAEB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ReadLab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88136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EAEB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E6E7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TESTY UŻYTECZNOŚCI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841248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 zaobserwowaliśmy i poprawiliśmy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22960" y="19659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6E7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Testy „think aloud” z 3 osobami (studentka 22 l., kobieta 48 l., student 24 l.).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22960" y="2514600"/>
            <a:ext cx="5029200" cy="2926080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2700">
            <a:solidFill>
              <a:srgbClr val="D2D2D7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188720" y="274320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Problemy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88720" y="3246120"/>
            <a:ext cx="4297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Przeciąganie kart nie było oczywiste (2 z 3 osób)</a:t>
            </a:r>
            <a:endParaRPr lang="en-US" sz="1400" dirty="0"/>
          </a:p>
          <a:p>
            <a:pPr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Ikona ustawień (zębatka) mało czytelna dla osoby 48 l.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09360" y="2514600"/>
            <a:ext cx="5029200" cy="2926080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2700">
            <a:solidFill>
              <a:srgbClr val="D2D2D7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675120" y="274320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Wprowadzone poprawki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675120" y="3246120"/>
            <a:ext cx="4297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Kursor „grab” i efekt chwytania na kartach</a:t>
            </a:r>
            <a:endParaRPr lang="en-US" sz="1400" dirty="0"/>
          </a:p>
          <a:p>
            <a:pPr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Domyślna zakładka na telefonie ustawiona na „Kolejka”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2296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EAEB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ReadLab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088136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EAEB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D1D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2011680"/>
            <a:ext cx="914400" cy="310896"/>
          </a:xfrm>
          <a:prstGeom prst="roundRect">
            <a:avLst>
              <a:gd name="adj" fmla="val 14706"/>
            </a:avLst>
          </a:prstGeom>
          <a:solidFill>
            <a:srgbClr val="1D1D1F"/>
          </a:solidFill>
          <a:ln w="12700">
            <a:solidFill>
              <a:srgbClr val="3A3A3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686800" y="2514600"/>
            <a:ext cx="914400" cy="457200"/>
          </a:xfrm>
          <a:prstGeom prst="roundRect">
            <a:avLst>
              <a:gd name="adj" fmla="val 12000"/>
            </a:avLst>
          </a:prstGeom>
          <a:solidFill>
            <a:srgbClr val="1D1D1F"/>
          </a:solidFill>
          <a:ln w="12700">
            <a:solidFill>
              <a:srgbClr val="3A3A3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0" y="3081528"/>
            <a:ext cx="914400" cy="457200"/>
          </a:xfrm>
          <a:prstGeom prst="roundRect">
            <a:avLst>
              <a:gd name="adj" fmla="val 12000"/>
            </a:avLst>
          </a:prstGeom>
          <a:solidFill>
            <a:srgbClr val="1D1D1F"/>
          </a:solidFill>
          <a:ln w="12700">
            <a:solidFill>
              <a:srgbClr val="3A3A3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0" y="3648456"/>
            <a:ext cx="914400" cy="457200"/>
          </a:xfrm>
          <a:prstGeom prst="roundRect">
            <a:avLst>
              <a:gd name="adj" fmla="val 12000"/>
            </a:avLst>
          </a:prstGeom>
          <a:solidFill>
            <a:srgbClr val="1D1D1F"/>
          </a:solidFill>
          <a:ln w="12700">
            <a:solidFill>
              <a:srgbClr val="3A3A3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921240" y="2011680"/>
            <a:ext cx="914400" cy="310896"/>
          </a:xfrm>
          <a:prstGeom prst="roundRect">
            <a:avLst>
              <a:gd name="adj" fmla="val 14706"/>
            </a:avLst>
          </a:prstGeom>
          <a:solidFill>
            <a:srgbClr val="1D1D1F"/>
          </a:solidFill>
          <a:ln w="12700">
            <a:solidFill>
              <a:srgbClr val="3A3A3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921240" y="2514600"/>
            <a:ext cx="914400" cy="457200"/>
          </a:xfrm>
          <a:prstGeom prst="roundRect">
            <a:avLst>
              <a:gd name="adj" fmla="val 12000"/>
            </a:avLst>
          </a:prstGeom>
          <a:solidFill>
            <a:srgbClr val="1D1D1F"/>
          </a:solidFill>
          <a:ln w="12700">
            <a:solidFill>
              <a:srgbClr val="3A3A3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921240" y="3081528"/>
            <a:ext cx="914400" cy="457200"/>
          </a:xfrm>
          <a:prstGeom prst="roundRect">
            <a:avLst>
              <a:gd name="adj" fmla="val 12000"/>
            </a:avLst>
          </a:prstGeom>
          <a:solidFill>
            <a:srgbClr val="1D1D1F"/>
          </a:solidFill>
          <a:ln w="12700">
            <a:solidFill>
              <a:srgbClr val="3A3A3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921240" y="3648456"/>
            <a:ext cx="914400" cy="457200"/>
          </a:xfrm>
          <a:prstGeom prst="roundRect">
            <a:avLst>
              <a:gd name="adj" fmla="val 12000"/>
            </a:avLst>
          </a:prstGeom>
          <a:solidFill>
            <a:srgbClr val="1D1D1F"/>
          </a:solidFill>
          <a:ln w="12700">
            <a:solidFill>
              <a:srgbClr val="3A3A3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155680" y="2011680"/>
            <a:ext cx="914400" cy="310896"/>
          </a:xfrm>
          <a:prstGeom prst="roundRect">
            <a:avLst>
              <a:gd name="adj" fmla="val 14706"/>
            </a:avLst>
          </a:prstGeom>
          <a:solidFill>
            <a:srgbClr val="1D1D1F"/>
          </a:solidFill>
          <a:ln w="12700">
            <a:solidFill>
              <a:srgbClr val="3A3A3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155680" y="2514600"/>
            <a:ext cx="914400" cy="457200"/>
          </a:xfrm>
          <a:prstGeom prst="roundRect">
            <a:avLst>
              <a:gd name="adj" fmla="val 12000"/>
            </a:avLst>
          </a:prstGeom>
          <a:solidFill>
            <a:srgbClr val="1D1D1F"/>
          </a:solidFill>
          <a:ln w="12700">
            <a:solidFill>
              <a:srgbClr val="3A3A3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155680" y="3081528"/>
            <a:ext cx="914400" cy="457200"/>
          </a:xfrm>
          <a:prstGeom prst="roundRect">
            <a:avLst>
              <a:gd name="adj" fmla="val 12000"/>
            </a:avLst>
          </a:prstGeom>
          <a:solidFill>
            <a:srgbClr val="1D1D1F"/>
          </a:solidFill>
          <a:ln w="12700">
            <a:solidFill>
              <a:srgbClr val="3A3A3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155680" y="3648456"/>
            <a:ext cx="914400" cy="457200"/>
          </a:xfrm>
          <a:prstGeom prst="roundRect">
            <a:avLst>
              <a:gd name="adj" fmla="val 12000"/>
            </a:avLst>
          </a:prstGeom>
          <a:solidFill>
            <a:srgbClr val="1D1D1F"/>
          </a:solidFill>
          <a:ln w="12700">
            <a:solidFill>
              <a:srgbClr val="3A3A3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219456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Dziękujemy</a:t>
            </a:r>
            <a:endParaRPr lang="en-US" sz="4600" dirty="0"/>
          </a:p>
        </p:txBody>
      </p:sp>
      <p:sp>
        <p:nvSpPr>
          <p:cNvPr id="15" name="Text 13"/>
          <p:cNvSpPr/>
          <p:nvPr/>
        </p:nvSpPr>
        <p:spPr>
          <a:xfrm>
            <a:off x="822960" y="3200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2D2D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Działająca aplikacja · prototyp w Figmie · pełna dokumentacja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22960" y="493776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AEAEB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Repozytorium:  </a:t>
            </a:r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AEAEB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github.com/neumann1337/readlab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AEAEB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Prototyp Figma:  </a:t>
            </a:r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AEAEB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figma.com/proto/…/ReadLab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ReadLab — prezentacja</dc:title>
  <dc:subject>PptxGenJS Presentation</dc:subject>
  <dc:creator>Gracjan Prusik, Bartłomiej Neumann</dc:creator>
  <cp:lastModifiedBy>Gracjan Prusik, Bartłomiej Neumann</cp:lastModifiedBy>
  <cp:revision>1</cp:revision>
  <dcterms:created xsi:type="dcterms:W3CDTF">2026-06-14T06:45:10Z</dcterms:created>
  <dcterms:modified xsi:type="dcterms:W3CDTF">2026-06-14T06:45:10Z</dcterms:modified>
</cp:coreProperties>
</file>